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161C"/>
                </a:solidFill>
                <a:latin typeface="Yu Gothic"/>
              </a:defRPr>
            </a:pPr>
            <a:r>
              <a:rPr sz="1300" b="0" i="0" u="none" strike="noStrike">
                <a:solidFill>
                  <a:srgbClr val="12161C"/>
                </a:solidFill>
                <a:latin typeface="Yu Gothic"/>
              </a:rPr>
              <a:t>1本あたり実費の内訳（円）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1本あたり実費</c:v>
                </c:pt>
              </c:strCache>
            </c:strRef>
          </c:tx>
          <c:spPr>
            <a:solidFill>
              <a:srgbClr val="E254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650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交通・宿泊</c:v>
                  </c:pt>
                  <c:pt idx="1">
                    <c:v>外注（カラー・MA）</c:v>
                  </c:pt>
                  <c:pt idx="2">
                    <c:v>機材・消耗品</c:v>
                  </c:pt>
                  <c:pt idx="3">
                    <c:v>予備費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60000</c:v>
                </c:pt>
                <c:pt idx="1">
                  <c:v>50000</c:v>
                </c:pt>
                <c:pt idx="2">
                  <c:v>15000</c:v>
                </c:pt>
                <c:pt idx="3">
                  <c:v>15000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650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6505A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00"/>
        </c:scaling>
        <c:delete val="0"/>
        <c:axPos val="b"/>
        <c:majorGridlines>
          <c:spPr>
            <a:ln w="12700" cap="flat">
              <a:solidFill>
                <a:srgbClr val="DDE1E4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4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挨拶は短く。成功譚じゃないですと先に言ってから2枚目へ。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3つ目の「撮る人がいない」が、北海道でやる理由になる。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「また撮ります」が他の人物ドキュメンタリーとの一番の違い。続編前提だからアーカイブが資産になる。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交渉で一番効く。宣伝はしませんと先に言うほど本音が出る。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③の現場があるは必須。喋るだけの人は画が持たない。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章立てを固定すると編集時間が読める。だから月1本が現実的になる。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最後の「明日、何をしますか」が締めの定番。決意じゃなく予定を聞くと嘘が混ざらない。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撮らずに同行する日を作るのがポイント。そこで信用ができると3日目の話が変わる。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試写ルールを先に固めないと、公開直前に全部ひっくり返される。運営上の最大リスク。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縦型は台詞じゃなく手の動きを切る。喋りの切り抜きは他と埋もれる。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あくまで型の提示。相手に「自分もこの並びに入るのか」を想像させるのが目的。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協賛契約に「出演者選定と編集内容に関与しない」条項を必ず入れる。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窓口の一本化が重要。被写体から見て話す相手が一人でないと本音が出ない。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数字は仮置き。パイロット1本の実績が出た時点で全部引き直す前提で話す。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金額は仮。パイロットで実績に差し替えますと必ず添える。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撮らない勇気の話。ここを詰めておくと、紹介が紹介を呼ぶ。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再生数ではなくアーカイブの価値で話す。自治体や企業に効くのはこっち。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締めは短く。まず1本撮りますで終える。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DOCUMENTARY SHORT FILM MEDIA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spc="1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GENZAICHI</a:t>
            </a:r>
            <a:endParaRPr lang="en-US" sz="6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spc="600" kern="0" dirty="0">
                <a:solidFill>
                  <a:srgbClr val="E2542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現 在 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023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9D2D9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ゴールじゃなくて、いまいる場所を撮ります。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6177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E8B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経営者も、名前の出ない人も。綺麗事を抜きにしたショートフィルムで、いまの現在地を記録していきます。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66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企画書 ／ 北海道・道東発 ／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21240" y="2743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E4E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 ／ 背景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うまくいった話は、もう足りてる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7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世に出ている人の物語って、だいたい成功という結論から逆算して作られていると思うんです。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327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AE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GENZAICHI ／ 現在地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393338" cy="2514600"/>
          </a:xfrm>
          <a:prstGeom prst="roundRect">
            <a:avLst>
              <a:gd name="adj" fmla="val 2182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2788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182112"/>
            <a:ext cx="2753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磨かれすぎてる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602736"/>
            <a:ext cx="2753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企業のPVも、SNSの自己紹介もそうです。失敗や挫折は、成功の前振りとしてしか出てきません。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99178" y="2606040"/>
            <a:ext cx="3393338" cy="2514600"/>
          </a:xfrm>
          <a:prstGeom prst="roundRect">
            <a:avLst>
              <a:gd name="adj" fmla="val 2182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19218" y="2788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719218" y="3182112"/>
            <a:ext cx="2753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多数派が写らない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719218" y="3602736"/>
            <a:ext cx="2753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記録されるのは、たどり着いた人だけです。肩書きも売上もない人が何に夢中なのかは、どこにも残りません。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58277" y="2606040"/>
            <a:ext cx="3393338" cy="2514600"/>
          </a:xfrm>
          <a:prstGeom prst="roundRect">
            <a:avLst>
              <a:gd name="adj" fmla="val 2182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78317" y="2788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78317" y="3182112"/>
            <a:ext cx="2753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撮る人がいない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78317" y="3602736"/>
            <a:ext cx="2753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北海道には、その土地でしか成り立たない生き方があります。でも語る人も撮る人も、足りていないと感じています。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うまくいった話ばかりが残って、いま迷っている最中の人は、誰も撮っていません。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21240" y="2743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1A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／ 定義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現在地は、途中経過のことです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E8B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人生の結論は撮りません。いまどこで立ち止まっていて、何に夢中で、何を悔いているか。そこを撮ります。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327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3D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GENZAICHI ／ 現在地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5117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514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まだ途中の人を撮ります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2532888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結末が出ていない人がいいです。答えは本人にも出ていなくて構いません。むしろ出ていない方がいいと思っています。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7530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5387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何年か後に、また撮ります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3557016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同じ人をもう一度撮ります。1本で終わらせないで、続編がある前提で作ります。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59943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5628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本人にも見えていません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4581144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だから聞き出すというより、思い出してもらいます。家族や従業員、仲間にも同じことを聞きます。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596128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5596128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2542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タグライン ： 「まだ、途中です。」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21240" y="2743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E4E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POLICY ／ 編集方針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撮らないものを、先に決めます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7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出演をお願いするときに、必ず最初に見せます。良く見せませんという合意が取れないと、本音は出てきません。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327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AE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GENZAICHI ／ 現在地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5272888" cy="2788920"/>
          </a:xfrm>
          <a:prstGeom prst="roundRect">
            <a:avLst>
              <a:gd name="adj" fmla="val 1967"/>
            </a:avLst>
          </a:prstGeom>
          <a:solidFill>
            <a:srgbClr val="12161C"/>
          </a:solidFill>
          <a:ln w="12700">
            <a:solidFill>
              <a:srgbClr val="12161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51560" y="2788920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撮らないもの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337560"/>
            <a:ext cx="44499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成功から逆算したストーリー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音楽と編集で泣かせにいく作り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商品やサービスの宣伝カット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最後に一言でまとめさせる締め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8728" y="2560320"/>
            <a:ext cx="5272888" cy="2788920"/>
          </a:xfrm>
          <a:prstGeom prst="roundRect">
            <a:avLst>
              <a:gd name="adj" fmla="val 1967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690208" y="2788920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84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撮るもの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690208" y="3337560"/>
            <a:ext cx="44499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言い淀み、言い直し、長い沈黙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まだ片付いていない後悔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何度も繰り返される手の動き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家族や従業員から見たその人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6692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泥臭さは演出で足しません。足りないなら、その人はまだ撮る時期じゃないんだと思います。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21240" y="2743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E4E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CASTING ／ 被写体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誰を撮るか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7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肩書きでは選びません。まだ終わっていない人、というのが唯一の条件です。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327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AE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GENZAICHI ／ 現在地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3423818" cy="1280160"/>
          </a:xfrm>
          <a:prstGeom prst="roundRect">
            <a:avLst>
              <a:gd name="adj" fmla="val 4286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633472"/>
            <a:ext cx="28386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経営者・二代目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980944"/>
            <a:ext cx="28386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継いだ会社、継がせる会社。数字と人のあいだで割り切れずにいる人です。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3938" y="2450592"/>
            <a:ext cx="3423818" cy="1280160"/>
          </a:xfrm>
          <a:prstGeom prst="roundRect">
            <a:avLst>
              <a:gd name="adj" fmla="val 4286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76546" y="2633472"/>
            <a:ext cx="28386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一次産業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676546" y="2980944"/>
            <a:ext cx="28386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漁師、酪農、農家。天候と相場が、そのまま生活に直結する現場です。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27797" y="2450592"/>
            <a:ext cx="3423818" cy="1280160"/>
          </a:xfrm>
          <a:prstGeom prst="roundRect">
            <a:avLst>
              <a:gd name="adj" fmla="val 4286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20405" y="2633472"/>
            <a:ext cx="28386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職人・技術者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420405" y="2980944"/>
            <a:ext cx="28386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同じ作業を何千回も繰り返してきた手。言葉より先に手が動く人です。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50208"/>
            <a:ext cx="3423818" cy="1280160"/>
          </a:xfrm>
          <a:prstGeom prst="roundRect">
            <a:avLst>
              <a:gd name="adj" fmla="val 4286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4133088"/>
            <a:ext cx="28386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廃業と再起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480560"/>
            <a:ext cx="28386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畳んだ人、辞めた人、病気で止まった人。いま何をしているのかを聞きたいです。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83938" y="3950208"/>
            <a:ext cx="3423818" cy="1280160"/>
          </a:xfrm>
          <a:prstGeom prst="roundRect">
            <a:avLst>
              <a:gd name="adj" fmla="val 4286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76546" y="4133088"/>
            <a:ext cx="28386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名もなき夢中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4676546" y="4480560"/>
            <a:ext cx="28386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収入にならないことに何年も注ぎ込んでいる人。地域活動でも趣味でも構いません。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27797" y="3950208"/>
            <a:ext cx="3423818" cy="1280160"/>
          </a:xfrm>
          <a:prstGeom prst="roundRect">
            <a:avLst>
              <a:gd name="adj" fmla="val 4286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20405" y="4133088"/>
            <a:ext cx="28386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戻ってきた人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8420405" y="4480560"/>
            <a:ext cx="28386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都市で働いて、北海道に戻ってきた人。戻ったことを正解だとは言わない人です。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486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共通条件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77900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① いまも続けている　　② 語りたくない部分がある　　③ 手が動く現場がある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21240" y="2743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1A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／ 映像構成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1本12〜18分。章立ては固定します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E8B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尺よりも章の順番を固定します。どの回も同じ流れで進むことが、シリーズの信用になると思っています。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327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3D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GENZAICHI ／ 現在地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3393338" cy="914400"/>
          </a:xfrm>
          <a:prstGeom prst="roundRect">
            <a:avLst>
              <a:gd name="adj" fmla="val 6000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58775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12–18</a:t>
            </a:r>
            <a:pPr indent="0" marL="0">
              <a:buNone/>
            </a:pPr>
            <a:r>
              <a:rPr lang="en-US" sz="140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分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35808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8B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本編（YouTube・公式サイト）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99178" y="2514600"/>
            <a:ext cx="3393338" cy="914400"/>
          </a:xfrm>
          <a:prstGeom prst="roundRect">
            <a:avLst>
              <a:gd name="adj" fmla="val 6000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73498" y="258775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pPr indent="0" marL="0">
              <a:buNone/>
            </a:pPr>
            <a:r>
              <a:rPr lang="en-US" sz="140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秒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673498" y="3035808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8B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予告編（横型・告知用）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58277" y="2514600"/>
            <a:ext cx="3393338" cy="914400"/>
          </a:xfrm>
          <a:prstGeom prst="roundRect">
            <a:avLst>
              <a:gd name="adj" fmla="val 6000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32597" y="258775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30–60</a:t>
            </a:r>
            <a:pPr indent="0" marL="0">
              <a:buNone/>
            </a:pPr>
            <a:r>
              <a:rPr lang="en-US" sz="140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秒 ×3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432597" y="3035808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8B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縦型ショート（SNS導線）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本編の5章構成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41648"/>
            <a:ext cx="1977481" cy="1783080"/>
          </a:xfrm>
          <a:prstGeom prst="roundRect">
            <a:avLst>
              <a:gd name="adj" fmla="val 3077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" y="4206240"/>
            <a:ext cx="15385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" y="4480560"/>
            <a:ext cx="15385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現在地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" y="4828032"/>
            <a:ext cx="15385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E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" y="5084064"/>
            <a:ext cx="153856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いまの日常と手の動き。まだ名乗らせません。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873593" y="4041648"/>
            <a:ext cx="1977481" cy="1783080"/>
          </a:xfrm>
          <a:prstGeom prst="roundRect">
            <a:avLst>
              <a:gd name="adj" fmla="val 3077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93049" y="4206240"/>
            <a:ext cx="15385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093049" y="4480560"/>
            <a:ext cx="15385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来歴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3093049" y="4828032"/>
            <a:ext cx="15385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E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02:00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093049" y="5084064"/>
            <a:ext cx="153856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どこから来たのか。事実だけを淡々と置きます。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07107" y="4041648"/>
            <a:ext cx="1977481" cy="1783080"/>
          </a:xfrm>
          <a:prstGeom prst="roundRect">
            <a:avLst>
              <a:gd name="adj" fmla="val 3077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26563" y="4206240"/>
            <a:ext cx="15385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326563" y="4480560"/>
            <a:ext cx="15385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亀裂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5326563" y="4828032"/>
            <a:ext cx="15385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E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05:00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326563" y="5084064"/>
            <a:ext cx="153856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転換点。うまくいかなかった時期を扱います。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40620" y="4041648"/>
            <a:ext cx="1977481" cy="1783080"/>
          </a:xfrm>
          <a:prstGeom prst="roundRect">
            <a:avLst>
              <a:gd name="adj" fmla="val 3077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60076" y="4206240"/>
            <a:ext cx="15385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560076" y="4480560"/>
            <a:ext cx="15385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反省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7560076" y="4828032"/>
            <a:ext cx="15385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E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560076" y="5084064"/>
            <a:ext cx="153856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いまも消えていない後悔。答えは出させません。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574134" y="4041648"/>
            <a:ext cx="1977481" cy="1783080"/>
          </a:xfrm>
          <a:prstGeom prst="roundRect">
            <a:avLst>
              <a:gd name="adj" fmla="val 3077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93590" y="4206240"/>
            <a:ext cx="15385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793590" y="4480560"/>
            <a:ext cx="15385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明日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9793590" y="4828032"/>
            <a:ext cx="15385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E8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793590" y="5084064"/>
            <a:ext cx="153856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決意ではなく、明日の予定を話してもらいます。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21240" y="2743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E4E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／ 取材設計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聞き出さないで、思い出してもらう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7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情報を集める時間ではなくて、本人が自分の現在地に気づく時間だと思って設計します。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327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AE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GENZAICHI ／ 現在地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5877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事前面談は必ず1回、カメラなしで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898648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ここで撮らない範囲を本人と決めます。撮影日には、もう話がついている状態にしておきます。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483864"/>
            <a:ext cx="384048" cy="384048"/>
          </a:xfrm>
          <a:prstGeom prst="ellipse">
            <a:avLst/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46557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時系列では聞きません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76472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作業してもらいながら、手が動いている状態で聞きます。座って正面から聞くのは最後だけです。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361688"/>
            <a:ext cx="384048" cy="384048"/>
          </a:xfrm>
          <a:prstGeom prst="ellipse">
            <a:avLst/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3434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沈黙は切りません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654296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最低5秒待ちます。言い淀みも編集で消しません。そこが一番現在地に近いと思っています。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239512"/>
            <a:ext cx="384048" cy="384048"/>
          </a:xfrm>
          <a:prstGeom prst="ellipse">
            <a:avLst/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22122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「一言でいうと?」は聞きません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53212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まとめさせた瞬間に、その人は用意していた答えに戻ってしまいます。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03720" y="2514600"/>
            <a:ext cx="4647895" cy="3520440"/>
          </a:xfrm>
          <a:prstGeom prst="roundRect">
            <a:avLst>
              <a:gd name="adj" fmla="val 1558"/>
            </a:avLst>
          </a:prstGeom>
          <a:solidFill>
            <a:srgbClr val="12161C"/>
          </a:solidFill>
          <a:ln w="12700">
            <a:solidFill>
              <a:srgbClr val="12161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315200" y="2743200"/>
            <a:ext cx="38249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実際に聞くこと（抜粋）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3200400"/>
            <a:ext cx="382493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今日、何時に起きて、最初に何をしましたか。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いま、一番うまくいっていないことは何ですか。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あの頃に戻れるなら、誰に何と言いますか。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あなたを一番誤解しているのは、誰だと思いますか。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明日、何をしますか。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21240" y="2743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1A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CINEMATOGRAPHY ／ 撮影方針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画のつくり方と、現場での振る舞い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E8B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撮り方そのものが編集方針の続きだと思っています。作り込むほど、現在地から遠ざかります。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327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3D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GENZAICHI ／ 現在地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384048" cy="384048"/>
          </a:xfrm>
          <a:prstGeom prst="ellipse">
            <a:avLst/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5054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ルック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514600"/>
            <a:ext cx="8625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手持ちが基本です。演出照明は最小限にして、現場の光をそのまま使います。彩度は低めで、ハイライトは飛ばしません。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236976"/>
            <a:ext cx="384048" cy="384048"/>
          </a:xfrm>
          <a:prstGeom prst="ellipse">
            <a:avLst/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32552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カメラ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264408"/>
            <a:ext cx="8625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2カメで寄りと引き。インタビューは目線をレンズから少し外してもらって、正面すぎる画を避けます。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986784"/>
            <a:ext cx="384048" cy="384048"/>
          </a:xfrm>
          <a:prstGeom prst="ellipse">
            <a:avLst/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400507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音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4014216"/>
            <a:ext cx="8625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現場音は積極的に残します。音楽は最小限で、無音のまま終わる回があってもいいと思っています。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736592"/>
            <a:ext cx="384048" cy="384048"/>
          </a:xfrm>
          <a:prstGeom prst="ellipse">
            <a:avLst/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7548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北海道の風土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926080" y="4764024"/>
            <a:ext cx="8625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天候や季節を、きれいな背景として使いません。冬に撮るなら、冬の不便さごと画に入れます。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486400"/>
            <a:ext cx="384048" cy="384048"/>
          </a:xfrm>
          <a:prstGeom prst="ellipse">
            <a:avLst/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207008" y="550468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撮影日数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926080" y="5513832"/>
            <a:ext cx="8625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1本2〜3日です。現場1日、インタビュー1日、予備1日。撮らずに同行するだけの日を必ず1日つくります。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21240" y="2743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E4E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／ 制作フロー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公開までの7ステップ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7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1本におよそ6週間かけます。撮影は2〜3日で、残りはほとんど信用をつくる時間と編集です。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327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AE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GENZAICHI ／ 現在地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1433387" cy="1234440"/>
          </a:xfrm>
          <a:prstGeom prst="roundRect">
            <a:avLst>
              <a:gd name="adj" fmla="val 4444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2743200"/>
            <a:ext cx="11407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017520"/>
            <a:ext cx="12505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リサーチ・推薦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19771" y="2606040"/>
            <a:ext cx="1433387" cy="1234440"/>
          </a:xfrm>
          <a:prstGeom prst="roundRect">
            <a:avLst>
              <a:gd name="adj" fmla="val 4444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66075" y="2743200"/>
            <a:ext cx="11407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311211" y="3017520"/>
            <a:ext cx="12505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事前面談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99463" y="2606040"/>
            <a:ext cx="1433387" cy="1234440"/>
          </a:xfrm>
          <a:prstGeom prst="roundRect">
            <a:avLst>
              <a:gd name="adj" fmla="val 4444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45767" y="2743200"/>
            <a:ext cx="11407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890903" y="3017520"/>
            <a:ext cx="12505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同意書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79154" y="2606040"/>
            <a:ext cx="1433387" cy="1234440"/>
          </a:xfrm>
          <a:prstGeom prst="roundRect">
            <a:avLst>
              <a:gd name="adj" fmla="val 4444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25458" y="2743200"/>
            <a:ext cx="11407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70594" y="3017520"/>
            <a:ext cx="12505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撮影 2〜3日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58845" y="2606040"/>
            <a:ext cx="1433387" cy="1234440"/>
          </a:xfrm>
          <a:prstGeom prst="roundRect">
            <a:avLst>
              <a:gd name="adj" fmla="val 4444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05149" y="2743200"/>
            <a:ext cx="11407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050285" y="3017520"/>
            <a:ext cx="12505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編集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38537" y="2606040"/>
            <a:ext cx="1433387" cy="1234440"/>
          </a:xfrm>
          <a:prstGeom prst="roundRect">
            <a:avLst>
              <a:gd name="adj" fmla="val 4444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4841" y="2743200"/>
            <a:ext cx="11407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629977" y="3017520"/>
            <a:ext cx="12505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本人試写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118228" y="2606040"/>
            <a:ext cx="1433387" cy="1234440"/>
          </a:xfrm>
          <a:prstGeom prst="roundRect">
            <a:avLst>
              <a:gd name="adj" fmla="val 4444"/>
            </a:avLst>
          </a:prstGeom>
          <a:solidFill>
            <a:srgbClr val="12161C"/>
          </a:solidFill>
          <a:ln w="12700">
            <a:solidFill>
              <a:srgbClr val="12161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64532" y="2743200"/>
            <a:ext cx="11407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209668" y="3017520"/>
            <a:ext cx="12505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公開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160520"/>
            <a:ext cx="10911535" cy="1600200"/>
          </a:xfrm>
          <a:prstGeom prst="roundRect">
            <a:avLst>
              <a:gd name="adj" fmla="val 3429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097280" y="4407408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本人試写は必ずやります。ただし直すのは2つだけです。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4846320"/>
            <a:ext cx="99971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事実の間違い（年号・数字・固有名詞）　　②  本人以外への配慮（家族・従業員・取引先）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自分を良く見せるための修正は受けません。これを同意書に書いて、事前面談のときに説明します。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21240" y="2743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1A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／ 配信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どこで出して、どう広げるか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E8B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本編の置き場所はYouTubeです。SNSは入口、サイトはアーカイブ、上映会は地域との接点として使い分けます。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327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3D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GENZAICHI ／ 現在地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2487854" cy="2286000"/>
          </a:xfrm>
          <a:prstGeom prst="roundRect">
            <a:avLst>
              <a:gd name="adj" fmla="val 2400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834640"/>
            <a:ext cx="19392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2542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YouTube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56432"/>
            <a:ext cx="193921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本編の置き場所です。12〜18分をそのまま置いて、章ごとのチャプターと書き起こしを付けます。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47974" y="2606040"/>
            <a:ext cx="2487854" cy="2286000"/>
          </a:xfrm>
          <a:prstGeom prst="roundRect">
            <a:avLst>
              <a:gd name="adj" fmla="val 2400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22294" y="2834640"/>
            <a:ext cx="19392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2542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Instagram / TikTok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22294" y="3456432"/>
            <a:ext cx="193921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縦型を1本につき3本。台詞の切り抜きではなく、手の動きを切り出します。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55868" y="2606040"/>
            <a:ext cx="2487854" cy="2286000"/>
          </a:xfrm>
          <a:prstGeom prst="roundRect">
            <a:avLst>
              <a:gd name="adj" fmla="val 2400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0188" y="2834640"/>
            <a:ext cx="19392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2542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公式サイト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30188" y="3456432"/>
            <a:ext cx="193921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全話のアーカイブと書き起こし。人物名や地域名で、あとから検索に残る資産にします。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63761" y="2606040"/>
            <a:ext cx="2487854" cy="2286000"/>
          </a:xfrm>
          <a:prstGeom prst="roundRect">
            <a:avLst>
              <a:gd name="adj" fmla="val 2400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38081" y="2834640"/>
            <a:ext cx="19392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2542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上映会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338081" y="3456432"/>
            <a:ext cx="193921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年2回、地域の小屋やカフェ、公民館で。出演者とその周りが集まる場をつくります。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138928"/>
            <a:ext cx="10911535" cy="777240"/>
          </a:xfrm>
          <a:prstGeom prst="roundRect">
            <a:avLst>
              <a:gd name="adj" fmla="val 7059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138928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8B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更新頻度 ：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月1本 ／ シーズン制（6本＝1シーズン）</a:t>
            </a:r>
            <a:pPr indent="0" marL="0">
              <a:buNone/>
            </a:pPr>
            <a:r>
              <a:rPr lang="en-US" sz="120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　シーズンごとに上映会と総括をやって、次の6人を決めます。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21240" y="2743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E4E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1 ／ 企画案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シーズン1の企画案（仮）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7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被写体はまだ決まっていません。どういう並びになるのかを見てもらうための仮案です。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327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AE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GENZAICHI ／ 現在地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2542032"/>
            <a:ext cx="3423818" cy="1371600"/>
          </a:xfrm>
          <a:prstGeom prst="roundRect">
            <a:avLst>
              <a:gd name="adj" fmla="val 4000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724912"/>
            <a:ext cx="28386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EP.01　釧路・水産加工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962656"/>
            <a:ext cx="28386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「二代目の朝」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328416"/>
            <a:ext cx="28386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父の会社を継いだ40代。従業員の半分が、親の代からの職人です。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3938" y="2542032"/>
            <a:ext cx="3423818" cy="1371600"/>
          </a:xfrm>
          <a:prstGeom prst="roundRect">
            <a:avLst>
              <a:gd name="adj" fmla="val 4000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76546" y="2724912"/>
            <a:ext cx="28386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EP.02　根室管内・酪農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676546" y="2962656"/>
            <a:ext cx="28386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「冬の牛舎」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76546" y="3328416"/>
            <a:ext cx="28386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離農が続く地域で規模を広げた夫婦。増えた借入と、減った休日の話です。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27797" y="2542032"/>
            <a:ext cx="3423818" cy="1371600"/>
          </a:xfrm>
          <a:prstGeom prst="roundRect">
            <a:avLst>
              <a:gd name="adj" fmla="val 4000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20405" y="2724912"/>
            <a:ext cx="28386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EP.03　帯広・元飲食店主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420405" y="2962656"/>
            <a:ext cx="28386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「店を閉めた日」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20405" y="3328416"/>
            <a:ext cx="28386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20年やった店を畳んで、いま何をしているのかを聞きます。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169664"/>
            <a:ext cx="3423818" cy="1371600"/>
          </a:xfrm>
          <a:prstGeom prst="roundRect">
            <a:avLst>
              <a:gd name="adj" fmla="val 4000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2688" y="4352544"/>
            <a:ext cx="28386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EP.04　羅臼・漁師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4590288"/>
            <a:ext cx="28386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「海に出ない日」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" y="4956048"/>
            <a:ext cx="28386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時化で出られない日の過ごし方から、一年を逆算します。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83938" y="4169664"/>
            <a:ext cx="3423818" cy="1371600"/>
          </a:xfrm>
          <a:prstGeom prst="roundRect">
            <a:avLst>
              <a:gd name="adj" fmla="val 4000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76546" y="4352544"/>
            <a:ext cx="28386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EP.05　札幌・ものづくり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676546" y="4590288"/>
            <a:ext cx="28386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「まだ売れない」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4676546" y="4956048"/>
            <a:ext cx="28386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10年続けて、生活はまだ成り立っていません。それでも続ける理由を聞きます。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27797" y="4169664"/>
            <a:ext cx="3423818" cy="1371600"/>
          </a:xfrm>
          <a:prstGeom prst="roundRect">
            <a:avLst>
              <a:gd name="adj" fmla="val 4000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20405" y="4352544"/>
            <a:ext cx="28386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EP.06　道東・Uターン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420405" y="4590288"/>
            <a:ext cx="28386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「戻ってきた人」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420405" y="4956048"/>
            <a:ext cx="28386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都市で働いて戻ってきた人。戻ったことを正解だとは言いません。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6692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6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仮のタイトルと設定です。実際の人選は事前面談を経て決めます。道東を軸にしつつ、1本だけ札幌圏を入れて対比をつくるつもりです。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21240" y="2743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1A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／ 収益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作品は無料。お金は別で立てます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E8B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本編に課金はしません。取材と撮影の力を見せるための作品なので、収益は受注と協賛で回収します。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327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3D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GENZAICHI ／ 現在地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2487854" cy="2423160"/>
          </a:xfrm>
          <a:prstGeom prst="roundRect">
            <a:avLst>
              <a:gd name="adj" fmla="val 2264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743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17520"/>
            <a:ext cx="1939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企業ドキュメント受注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639312"/>
            <a:ext cx="19392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54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主収益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931920"/>
            <a:ext cx="193921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本編と同じやり方を、企業の採用・事業承継・周年映像に応用します。作品そのものが営業資料になります。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47974" y="2560320"/>
            <a:ext cx="2487854" cy="2423160"/>
          </a:xfrm>
          <a:prstGeom prst="roundRect">
            <a:avLst>
              <a:gd name="adj" fmla="val 2264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22294" y="2743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22294" y="3017520"/>
            <a:ext cx="1939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シリーズ協賛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3722294" y="3639312"/>
            <a:ext cx="19392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54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年間契約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722294" y="3931920"/>
            <a:ext cx="193921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冠協賛です。ただし出演者選びと編集への口出しは、契約で外してもらいます。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55868" y="2560320"/>
            <a:ext cx="2487854" cy="2423160"/>
          </a:xfrm>
          <a:prstGeom prst="roundRect">
            <a:avLst>
              <a:gd name="adj" fmla="val 2264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0188" y="2743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30188" y="3017520"/>
            <a:ext cx="1939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自治体・DMO連携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6530188" y="3639312"/>
            <a:ext cx="19392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54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事業連動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530188" y="3931920"/>
            <a:ext cx="193921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移住や事業承継、担い手不足の文脈で、地域の記録事業として受託します。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63761" y="2560320"/>
            <a:ext cx="2487854" cy="2423160"/>
          </a:xfrm>
          <a:prstGeom prst="roundRect">
            <a:avLst>
              <a:gd name="adj" fmla="val 2264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38081" y="2743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338081" y="3017520"/>
            <a:ext cx="1939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上映会・二次利用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9338081" y="3639312"/>
            <a:ext cx="19392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54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副次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338081" y="3931920"/>
            <a:ext cx="193921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有料上映、素材の二次利用、将来的には書籍や展示も考えています。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230368"/>
            <a:ext cx="10911535" cy="713232"/>
          </a:xfrm>
          <a:prstGeom prst="roundRect">
            <a:avLst>
              <a:gd name="adj" fmla="val 7692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51560" y="5230368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542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協賛でも受託でも、編集権はこちらに置かせてもらいます。ここを外すと、この企画自体が成立しません。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21240" y="2743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E4E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／ 制作体制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2〜3人で回します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7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人が増えるほど現場の空気が固くなります。被写体との距離を保てる最小の人数でやります。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327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AE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GENZAICHI ／ 現在地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393338" cy="1828800"/>
          </a:xfrm>
          <a:prstGeom prst="roundRect">
            <a:avLst>
              <a:gd name="adj" fmla="val 3000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2834640"/>
            <a:ext cx="2753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監督 ／ 撮影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46120"/>
            <a:ext cx="2753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企画、人選、インタビュー、メインカメラ、編集まで兼ねます。被写体から見た窓口を一人にします。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99178" y="2606040"/>
            <a:ext cx="3393338" cy="1828800"/>
          </a:xfrm>
          <a:prstGeom prst="roundRect">
            <a:avLst>
              <a:gd name="adj" fmla="val 3000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19218" y="2834640"/>
            <a:ext cx="2753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録音 ／ 撮影補助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719218" y="3246120"/>
            <a:ext cx="2753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同録とサブカメラです。現場ではなるべく喋りません。機材も最小限で持ち込みます。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8277" y="2606040"/>
            <a:ext cx="3393338" cy="1828800"/>
          </a:xfrm>
          <a:prstGeom prst="roundRect">
            <a:avLst>
              <a:gd name="adj" fmla="val 3000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78317" y="2834640"/>
            <a:ext cx="2753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リサーチ ／ 渉外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478317" y="3246120"/>
            <a:ext cx="2753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人を紹介してもらうルートの開拓と、事前面談の調整、同意書まわりです。外部の協力でも構いません。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外注する領域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0292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カラーグレーディング（シリーズのルックを揃える初回だけ、設計をお願いします）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MA・整音（現場音を残す方針なので、必要な回だけお願いします）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字幕・翻訳（道外や海外に出すときに追加します）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21240" y="2743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1A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／ 進行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まず1本撮ります。営業はその後です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E8B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企画書だけでは伝わりません。1本目は自己資金と知人の被写体で撮り切って、それを持って営業に行きます。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327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3D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GENZAICHI ／ 現在地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2487854" cy="2148840"/>
          </a:xfrm>
          <a:prstGeom prst="roundRect">
            <a:avLst>
              <a:gd name="adj" fmla="val 2553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743200"/>
            <a:ext cx="19392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35808"/>
            <a:ext cx="19392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パイロット制作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474720"/>
            <a:ext cx="193921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被写体は知人から1名。自己資金で撮り切ります。同意書と試写ルールも、ここで実際に試します。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47974" y="2560320"/>
            <a:ext cx="2487854" cy="2148840"/>
          </a:xfrm>
          <a:prstGeom prst="roundRect">
            <a:avLst>
              <a:gd name="adj" fmla="val 2553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22294" y="2743200"/>
            <a:ext cx="19392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1–2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722294" y="3035808"/>
            <a:ext cx="19392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公開・検証・営業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22294" y="3474720"/>
            <a:ext cx="193921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パイロットを出して反応を見ます。同時に、この1本を持って協賛と受託の営業を始めます。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5868" y="2560320"/>
            <a:ext cx="2487854" cy="2148840"/>
          </a:xfrm>
          <a:prstGeom prst="roundRect">
            <a:avLst>
              <a:gd name="adj" fmla="val 2553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0188" y="2743200"/>
            <a:ext cx="19392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3–8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30188" y="3035808"/>
            <a:ext cx="19392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シーズン1（6本）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0188" y="3474720"/>
            <a:ext cx="193921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月1本で6本。3本目までに、人を紹介してもらうルートを固めます。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63761" y="2560320"/>
            <a:ext cx="2487854" cy="2148840"/>
          </a:xfrm>
          <a:prstGeom prst="roundRect">
            <a:avLst>
              <a:gd name="adj" fmla="val 2553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38081" y="2743200"/>
            <a:ext cx="19392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9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338081" y="3035808"/>
            <a:ext cx="19392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上映会・次期座組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38081" y="3474720"/>
            <a:ext cx="193921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地域で上映会をやって、シーズン2の被写体と協賛を決めます。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956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初年度の目標（たたき台）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230368"/>
            <a:ext cx="2487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indent="0" marL="0">
              <a:buNone/>
            </a:pPr>
            <a:r>
              <a:rPr lang="en-US" sz="1300" dirty="0">
                <a:solidFill>
                  <a:srgbClr val="E254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本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705856"/>
            <a:ext cx="2487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8B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シーズン1の公開本数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447974" y="5230368"/>
            <a:ext cx="2487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pPr indent="0" marL="0">
              <a:buNone/>
            </a:pPr>
            <a:r>
              <a:rPr lang="en-US" sz="1300" dirty="0">
                <a:solidFill>
                  <a:srgbClr val="E254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％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3447974" y="5705856"/>
            <a:ext cx="2487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8B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本編の平均視聴完了率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255868" y="5230368"/>
            <a:ext cx="2487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indent="0" marL="0">
              <a:buNone/>
            </a:pPr>
            <a:r>
              <a:rPr lang="en-US" sz="1300" dirty="0">
                <a:solidFill>
                  <a:srgbClr val="E254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件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6255868" y="5705856"/>
            <a:ext cx="2487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8B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映像制作の問い合わせ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063761" y="5230368"/>
            <a:ext cx="2487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</a:t>
            </a:r>
            <a:pPr indent="0" marL="0">
              <a:buNone/>
            </a:pPr>
            <a:r>
              <a:rPr lang="en-US" sz="1300" dirty="0">
                <a:solidFill>
                  <a:srgbClr val="E254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社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9063761" y="5705856"/>
            <a:ext cx="2487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8B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年間協賛の獲得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21240" y="2743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E4E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／ 予算感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1本あたり、だいたい14万円です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7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道東で2〜3日のロケを想定した、自主制作のときの実費です。自分の人件費は入れていない、たたき台の数字です。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327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AE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GENZAICHI ／ 現在地</a:t>
            </a:r>
            <a:endParaRPr lang="en-US" sz="8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514600"/>
          <a:ext cx="6400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315200" y="2514600"/>
            <a:ext cx="4236415" cy="1371600"/>
          </a:xfrm>
          <a:prstGeom prst="roundRect">
            <a:avLst>
              <a:gd name="adj" fmla="val 4000"/>
            </a:avLst>
          </a:prstGeom>
          <a:solidFill>
            <a:srgbClr val="12161C"/>
          </a:solidFill>
          <a:ln w="12700">
            <a:solidFill>
              <a:srgbClr val="12161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26680" y="2724912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シーズン1（6本）の実費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3035808"/>
            <a:ext cx="3413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D2D9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約 </a:t>
            </a:r>
            <a:pPr indent="0" marL="0">
              <a:buNone/>
            </a:pPr>
            <a:r>
              <a:rPr lang="en-US" sz="4000" b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万円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315200" y="4023360"/>
            <a:ext cx="4236415" cy="1691640"/>
          </a:xfrm>
          <a:prstGeom prst="roundRect">
            <a:avLst>
              <a:gd name="adj" fmla="val 3243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726680" y="4251960"/>
            <a:ext cx="34134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自分の人件費は入れていない実費です。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羅臼や根室など遠方のロケは、交通宿泊費が上振れします。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受注1件で、シーズン1本分の実費は回収できる水準を目安にします。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8704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6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数字は全部想定です。パイロットを1本撮った時点で、実績に置き換えます。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21240" y="2743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1A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&amp; RISK ／ 倫理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出てくれた人を守れないなら、撮りません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E8B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綺麗事を撮らないことと、人を傷つけることは違います。その線引きだけは、撮る前に仕組みとして決めておきます。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327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3D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GENZAICHI ／ 現在地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5250028" cy="960120"/>
          </a:xfrm>
          <a:prstGeom prst="roundRect">
            <a:avLst>
              <a:gd name="adj" fmla="val 5714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697480"/>
            <a:ext cx="4609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542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同意と、取り下げ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08376"/>
            <a:ext cx="4609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書面での同意と、公開前の試写は必ずやります。公開した後も、期限なしで取り下げの申し出を受けます。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5250028" cy="960120"/>
          </a:xfrm>
          <a:prstGeom prst="roundRect">
            <a:avLst>
              <a:gd name="adj" fmla="val 5714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794760"/>
            <a:ext cx="4609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542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本人以外への配慮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105656"/>
            <a:ext cx="4609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本人以外が特定される話は、本人の許可があっても慎重に扱います。家族、従業員、取引先です。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5250028" cy="960120"/>
          </a:xfrm>
          <a:prstGeom prst="roundRect">
            <a:avLst>
              <a:gd name="adj" fmla="val 5714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892040"/>
            <a:ext cx="4609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542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途中でやめるとき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202936"/>
            <a:ext cx="4609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撮影の途中で本人が降りたら、それまでの素材は一切使いません。そう約束してから撮り始めます。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1588" y="2560320"/>
            <a:ext cx="5250028" cy="960120"/>
          </a:xfrm>
          <a:prstGeom prst="roundRect">
            <a:avLst>
              <a:gd name="adj" fmla="val 5714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1628" y="2697480"/>
            <a:ext cx="4609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542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見世物にはしません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621628" y="3008376"/>
            <a:ext cx="4609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貧しさや失敗や病気を、画の強さのために使いません。演出で不幸を足すことは絶対にしません。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1588" y="3657600"/>
            <a:ext cx="5250028" cy="960120"/>
          </a:xfrm>
          <a:prstGeom prst="roundRect">
            <a:avLst>
              <a:gd name="adj" fmla="val 5714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1628" y="3794760"/>
            <a:ext cx="4609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542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素材の管理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21628" y="4105656"/>
            <a:ext cx="4609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暗号化した外付けに二重でバックアップします。未公開の素材は、関係者にも渡しません。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1588" y="4754880"/>
            <a:ext cx="5250028" cy="960120"/>
          </a:xfrm>
          <a:prstGeom prst="roundRect">
            <a:avLst>
              <a:gd name="adj" fmla="val 5714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1628" y="4892040"/>
            <a:ext cx="4609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542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炎上への備え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621628" y="5202936"/>
            <a:ext cx="4609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切り抜かれて広がる前提で作ります。単体で誤解される画は本編に置きません。窓口と手順も先に決めます。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21240" y="2743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E4E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／ 3年後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3年で、100人分残したいです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7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1本ずつは小さな記録でも、積み上がれば北海道の同時代史になると思っています。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327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AEB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GENZAICHI ／ 現在地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393338" cy="2606040"/>
          </a:xfrm>
          <a:prstGeom prst="roundRect">
            <a:avLst>
              <a:gd name="adj" fmla="val 2105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05840" y="2834640"/>
            <a:ext cx="2661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154680"/>
            <a:ext cx="2661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6本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023360"/>
            <a:ext cx="2661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道東で6本。地域のなかで、あの映像の人と覚えてもらえる状態をつくります。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99178" y="2606040"/>
            <a:ext cx="3393338" cy="2606040"/>
          </a:xfrm>
          <a:prstGeom prst="roundRect">
            <a:avLst>
              <a:gd name="adj" fmla="val 2105"/>
            </a:avLst>
          </a:prstGeom>
          <a:solidFill>
            <a:srgbClr val="E7E9EB"/>
          </a:solidFill>
          <a:ln w="12700">
            <a:solidFill>
              <a:srgbClr val="E7E9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64938" y="2834640"/>
            <a:ext cx="2661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764938" y="3154680"/>
            <a:ext cx="2661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12本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4764938" y="4023360"/>
            <a:ext cx="2661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650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全道に広げて年12本。企業ドキュメントの受注が、事業の柱になっている状態を目指します。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8277" y="2606040"/>
            <a:ext cx="3393338" cy="2606040"/>
          </a:xfrm>
          <a:prstGeom prst="roundRect">
            <a:avLst>
              <a:gd name="adj" fmla="val 2105"/>
            </a:avLst>
          </a:prstGeom>
          <a:solidFill>
            <a:srgbClr val="12161C"/>
          </a:solidFill>
          <a:ln w="12700">
            <a:solidFill>
              <a:srgbClr val="12161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524037" y="2834640"/>
            <a:ext cx="2661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524037" y="3154680"/>
            <a:ext cx="2661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100人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8524037" y="4023360"/>
            <a:ext cx="2661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アーカイブが100人分。上映ツアーや展示、書籍化も考えます。残した記録が、次の被写体を連れてきてくれるはずです。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5321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61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残したいのは再生数じゃなくて、あの時こう言っていた、と確認できる記録の束です。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GENZAICHI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57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まだ、途中です。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015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完成した人生を見せるメディアは、もう十分にあります。撮りたいのは、まだ決着のついていない現在地の方です。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次に決めること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4663440"/>
            <a:ext cx="3393338" cy="1371600"/>
          </a:xfrm>
          <a:prstGeom prst="roundRect">
            <a:avLst>
              <a:gd name="adj" fmla="val 4000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5084064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パイロットの被写体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5431536"/>
            <a:ext cx="2753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知人と紹介から1名。断られる前提で、3人に当たります。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99178" y="4663440"/>
            <a:ext cx="3393338" cy="1371600"/>
          </a:xfrm>
          <a:prstGeom prst="roundRect">
            <a:avLst>
              <a:gd name="adj" fmla="val 4000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9218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719218" y="5084064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公開する場所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19218" y="5431536"/>
            <a:ext cx="2753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YouTubeチャンネルと公式サイト。名前と説明文を先に固めます。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8277" y="4663440"/>
            <a:ext cx="3393338" cy="1371600"/>
          </a:xfrm>
          <a:prstGeom prst="roundRect">
            <a:avLst>
              <a:gd name="adj" fmla="val 4000"/>
            </a:avLst>
          </a:prstGeom>
          <a:solidFill>
            <a:srgbClr val="1E2630"/>
          </a:solidFill>
          <a:ln w="12700">
            <a:solidFill>
              <a:srgbClr val="1E26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78317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478317" y="5084064"/>
            <a:ext cx="27532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同意書と試写のルール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78317" y="5431536"/>
            <a:ext cx="2753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2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取り下げの条項、直せる範囲、素材の管理を書面にします。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GENZAICHI 企画書</dc:title>
  <dc:subject>PptxGenJS Presentation</dc:subject>
  <dc:creator>GENZAICHI</dc:creator>
  <cp:lastModifiedBy>GENZAICHI</cp:lastModifiedBy>
  <cp:revision>1</cp:revision>
  <dcterms:created xsi:type="dcterms:W3CDTF">2026-08-29T01:04:47Z</dcterms:created>
  <dcterms:modified xsi:type="dcterms:W3CDTF">2026-08-29T01:04:47Z</dcterms:modified>
</cp:coreProperties>
</file>